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entury Gothic Paneuropean Bold" charset="1" panose="020B0702020202020204"/>
      <p:regular r:id="rId13"/>
    </p:embeddedFont>
    <p:embeddedFont>
      <p:font typeface="Century Gothic Paneuropean" charset="1" panose="020B0502020202020204"/>
      <p:regular r:id="rId14"/>
    </p:embeddedFont>
    <p:embeddedFont>
      <p:font typeface="Century Gothic Paneuropean Bold Italics" charset="1" panose="020B070202020209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19104" y="2879997"/>
            <a:ext cx="12004696" cy="3748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78"/>
              </a:lnSpc>
            </a:pPr>
            <a:r>
              <a:rPr lang="en-US" sz="7127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THE ROLE OF THREAT INTELLIGENCE IN MODERN CYBERSECURITY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636269" y="1780250"/>
            <a:ext cx="5672235" cy="3363250"/>
          </a:xfrm>
          <a:custGeom>
            <a:avLst/>
            <a:gdLst/>
            <a:ahLst/>
            <a:cxnLst/>
            <a:rect r="r" b="b" t="t" l="l"/>
            <a:pathLst>
              <a:path h="3363250" w="5672235">
                <a:moveTo>
                  <a:pt x="0" y="0"/>
                </a:moveTo>
                <a:lnTo>
                  <a:pt x="5672235" y="0"/>
                </a:lnTo>
                <a:lnTo>
                  <a:pt x="5672235" y="3363250"/>
                </a:lnTo>
                <a:lnTo>
                  <a:pt x="0" y="3363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10669" y="5671086"/>
            <a:ext cx="2711661" cy="3131740"/>
          </a:xfrm>
          <a:custGeom>
            <a:avLst/>
            <a:gdLst/>
            <a:ahLst/>
            <a:cxnLst/>
            <a:rect r="r" b="b" t="t" l="l"/>
            <a:pathLst>
              <a:path h="3131740" w="2711661">
                <a:moveTo>
                  <a:pt x="0" y="0"/>
                </a:moveTo>
                <a:lnTo>
                  <a:pt x="2711661" y="0"/>
                </a:lnTo>
                <a:lnTo>
                  <a:pt x="2711661" y="3131739"/>
                </a:lnTo>
                <a:lnTo>
                  <a:pt x="0" y="31317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036865" y="7833935"/>
            <a:ext cx="393959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student: Mayar Yousef Alsaeed</a:t>
            </a:r>
          </a:p>
          <a:p>
            <a:pPr algn="just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ID : 461210731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49287" y="2074034"/>
            <a:ext cx="5246370" cy="7184266"/>
            <a:chOff x="0" y="0"/>
            <a:chExt cx="812800" cy="11130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1113031"/>
            </a:xfrm>
            <a:custGeom>
              <a:avLst/>
              <a:gdLst/>
              <a:ahLst/>
              <a:cxnLst/>
              <a:rect r="r" b="b" t="t" l="l"/>
              <a:pathLst>
                <a:path h="1113031" w="81280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1079090"/>
                  </a:lnTo>
                  <a:cubicBezTo>
                    <a:pt x="812800" y="1097835"/>
                    <a:pt x="797604" y="1113031"/>
                    <a:pt x="778860" y="1113031"/>
                  </a:cubicBezTo>
                  <a:lnTo>
                    <a:pt x="33940" y="1113031"/>
                  </a:lnTo>
                  <a:cubicBezTo>
                    <a:pt x="15196" y="1113031"/>
                    <a:pt x="0" y="1097835"/>
                    <a:pt x="0" y="1079090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3"/>
              <a:stretch>
                <a:fillRect l="-52671" t="0" r="-52671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1505396" y="2074034"/>
            <a:ext cx="3964386" cy="1916120"/>
          </a:xfrm>
          <a:custGeom>
            <a:avLst/>
            <a:gdLst/>
            <a:ahLst/>
            <a:cxnLst/>
            <a:rect r="r" b="b" t="t" l="l"/>
            <a:pathLst>
              <a:path h="1916120" w="3964386">
                <a:moveTo>
                  <a:pt x="0" y="0"/>
                </a:moveTo>
                <a:lnTo>
                  <a:pt x="3964386" y="0"/>
                </a:lnTo>
                <a:lnTo>
                  <a:pt x="3964386" y="1916120"/>
                </a:lnTo>
                <a:lnTo>
                  <a:pt x="0" y="1916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57272" y="7644254"/>
            <a:ext cx="7315200" cy="1864444"/>
          </a:xfrm>
          <a:custGeom>
            <a:avLst/>
            <a:gdLst/>
            <a:ahLst/>
            <a:cxnLst/>
            <a:rect r="r" b="b" t="t" l="l"/>
            <a:pathLst>
              <a:path h="1864444" w="7315200">
                <a:moveTo>
                  <a:pt x="0" y="0"/>
                </a:moveTo>
                <a:lnTo>
                  <a:pt x="7315200" y="0"/>
                </a:lnTo>
                <a:lnTo>
                  <a:pt x="7315200" y="1864443"/>
                </a:lnTo>
                <a:lnTo>
                  <a:pt x="0" y="18644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40539" y="3401089"/>
            <a:ext cx="11208748" cy="1063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2"/>
              </a:lnSpc>
            </a:pPr>
            <a:r>
              <a:rPr lang="en-US" sz="6258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What is Threat Intelligence?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58990" y="5095875"/>
            <a:ext cx="10964900" cy="1135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2627" indent="-236313" lvl="1">
              <a:lnSpc>
                <a:spcPts val="3064"/>
              </a:lnSpc>
              <a:buFont typeface="Arial"/>
              <a:buChar char="•"/>
            </a:pPr>
            <a:r>
              <a:rPr lang="en-US" b="true" sz="2189" i="true">
                <a:solidFill>
                  <a:srgbClr val="395EAD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Definition: CTI is good knowledge about bad guys and their plans .</a:t>
            </a:r>
          </a:p>
          <a:p>
            <a:pPr algn="just" marL="472627" indent="-236313" lvl="1">
              <a:lnSpc>
                <a:spcPts val="3064"/>
              </a:lnSpc>
              <a:buFont typeface="Arial"/>
              <a:buChar char="•"/>
            </a:pPr>
            <a:r>
              <a:rPr lang="en-US" b="true" sz="2189" i="true">
                <a:solidFill>
                  <a:srgbClr val="395EAD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Goal: To answer Who, Why, and How they will attack.</a:t>
            </a:r>
          </a:p>
          <a:p>
            <a:pPr algn="just" marL="472627" indent="-236313" lvl="1">
              <a:lnSpc>
                <a:spcPts val="3064"/>
              </a:lnSpc>
              <a:buFont typeface="Arial"/>
              <a:buChar char="•"/>
            </a:pPr>
            <a:r>
              <a:rPr lang="en-US" b="true" sz="2189" i="true">
                <a:solidFill>
                  <a:srgbClr val="395EAD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Benefit: It helps security teams make smart decisions 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05211" y="4374775"/>
            <a:ext cx="3047057" cy="632571"/>
            <a:chOff x="0" y="0"/>
            <a:chExt cx="802517" cy="1666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2517" cy="166603"/>
            </a:xfrm>
            <a:custGeom>
              <a:avLst/>
              <a:gdLst/>
              <a:ahLst/>
              <a:cxnLst/>
              <a:rect r="r" b="b" t="t" l="l"/>
              <a:pathLst>
                <a:path h="166603" w="802517">
                  <a:moveTo>
                    <a:pt x="83302" y="0"/>
                  </a:moveTo>
                  <a:lnTo>
                    <a:pt x="719216" y="0"/>
                  </a:lnTo>
                  <a:cubicBezTo>
                    <a:pt x="741309" y="0"/>
                    <a:pt x="762497" y="8776"/>
                    <a:pt x="778119" y="24398"/>
                  </a:cubicBezTo>
                  <a:cubicBezTo>
                    <a:pt x="793741" y="40021"/>
                    <a:pt x="802517" y="61209"/>
                    <a:pt x="802517" y="83302"/>
                  </a:cubicBezTo>
                  <a:lnTo>
                    <a:pt x="802517" y="83302"/>
                  </a:lnTo>
                  <a:cubicBezTo>
                    <a:pt x="802517" y="105394"/>
                    <a:pt x="793741" y="126583"/>
                    <a:pt x="778119" y="142205"/>
                  </a:cubicBezTo>
                  <a:cubicBezTo>
                    <a:pt x="762497" y="157827"/>
                    <a:pt x="741309" y="166603"/>
                    <a:pt x="719216" y="166603"/>
                  </a:cubicBezTo>
                  <a:lnTo>
                    <a:pt x="83302" y="166603"/>
                  </a:lnTo>
                  <a:cubicBezTo>
                    <a:pt x="61209" y="166603"/>
                    <a:pt x="40021" y="157827"/>
                    <a:pt x="24398" y="142205"/>
                  </a:cubicBezTo>
                  <a:cubicBezTo>
                    <a:pt x="8776" y="126583"/>
                    <a:pt x="0" y="105394"/>
                    <a:pt x="0" y="83302"/>
                  </a:cubicBezTo>
                  <a:lnTo>
                    <a:pt x="0" y="83302"/>
                  </a:lnTo>
                  <a:cubicBezTo>
                    <a:pt x="0" y="61209"/>
                    <a:pt x="8776" y="40021"/>
                    <a:pt x="24398" y="24398"/>
                  </a:cubicBezTo>
                  <a:cubicBezTo>
                    <a:pt x="40021" y="8776"/>
                    <a:pt x="61209" y="0"/>
                    <a:pt x="83302" y="0"/>
                  </a:cubicBezTo>
                  <a:close/>
                </a:path>
              </a:pathLst>
            </a:custGeom>
            <a:solidFill>
              <a:srgbClr val="7A7D8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02517" cy="204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552518" y="4374775"/>
            <a:ext cx="3002980" cy="598748"/>
            <a:chOff x="0" y="0"/>
            <a:chExt cx="790908" cy="1576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90908" cy="157695"/>
            </a:xfrm>
            <a:custGeom>
              <a:avLst/>
              <a:gdLst/>
              <a:ahLst/>
              <a:cxnLst/>
              <a:rect r="r" b="b" t="t" l="l"/>
              <a:pathLst>
                <a:path h="157695" w="790908">
                  <a:moveTo>
                    <a:pt x="78847" y="0"/>
                  </a:moveTo>
                  <a:lnTo>
                    <a:pt x="712061" y="0"/>
                  </a:lnTo>
                  <a:cubicBezTo>
                    <a:pt x="755607" y="0"/>
                    <a:pt x="790908" y="35301"/>
                    <a:pt x="790908" y="78847"/>
                  </a:cubicBezTo>
                  <a:lnTo>
                    <a:pt x="790908" y="78847"/>
                  </a:lnTo>
                  <a:cubicBezTo>
                    <a:pt x="790908" y="99759"/>
                    <a:pt x="782601" y="119814"/>
                    <a:pt x="767814" y="134601"/>
                  </a:cubicBezTo>
                  <a:cubicBezTo>
                    <a:pt x="753028" y="149388"/>
                    <a:pt x="732973" y="157695"/>
                    <a:pt x="712061" y="157695"/>
                  </a:cubicBezTo>
                  <a:lnTo>
                    <a:pt x="78847" y="157695"/>
                  </a:lnTo>
                  <a:cubicBezTo>
                    <a:pt x="35301" y="157695"/>
                    <a:pt x="0" y="122394"/>
                    <a:pt x="0" y="78847"/>
                  </a:cubicBezTo>
                  <a:lnTo>
                    <a:pt x="0" y="78847"/>
                  </a:lnTo>
                  <a:cubicBezTo>
                    <a:pt x="0" y="35301"/>
                    <a:pt x="35301" y="0"/>
                    <a:pt x="78847" y="0"/>
                  </a:cubicBezTo>
                  <a:close/>
                </a:path>
              </a:pathLst>
            </a:custGeom>
            <a:solidFill>
              <a:srgbClr val="7A7D8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90908" cy="195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10668" y="4374775"/>
            <a:ext cx="3334314" cy="598748"/>
            <a:chOff x="0" y="0"/>
            <a:chExt cx="878173" cy="1576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8173" cy="157695"/>
            </a:xfrm>
            <a:custGeom>
              <a:avLst/>
              <a:gdLst/>
              <a:ahLst/>
              <a:cxnLst/>
              <a:rect r="r" b="b" t="t" l="l"/>
              <a:pathLst>
                <a:path h="157695" w="878173">
                  <a:moveTo>
                    <a:pt x="78847" y="0"/>
                  </a:moveTo>
                  <a:lnTo>
                    <a:pt x="799326" y="0"/>
                  </a:lnTo>
                  <a:cubicBezTo>
                    <a:pt x="842872" y="0"/>
                    <a:pt x="878173" y="35301"/>
                    <a:pt x="878173" y="78847"/>
                  </a:cubicBezTo>
                  <a:lnTo>
                    <a:pt x="878173" y="78847"/>
                  </a:lnTo>
                  <a:cubicBezTo>
                    <a:pt x="878173" y="122394"/>
                    <a:pt x="842872" y="157695"/>
                    <a:pt x="799326" y="157695"/>
                  </a:cubicBezTo>
                  <a:lnTo>
                    <a:pt x="78847" y="157695"/>
                  </a:lnTo>
                  <a:cubicBezTo>
                    <a:pt x="35301" y="157695"/>
                    <a:pt x="0" y="122394"/>
                    <a:pt x="0" y="78847"/>
                  </a:cubicBezTo>
                  <a:lnTo>
                    <a:pt x="0" y="78847"/>
                  </a:lnTo>
                  <a:cubicBezTo>
                    <a:pt x="0" y="35301"/>
                    <a:pt x="35301" y="0"/>
                    <a:pt x="78847" y="0"/>
                  </a:cubicBezTo>
                  <a:close/>
                </a:path>
              </a:pathLst>
            </a:custGeom>
            <a:solidFill>
              <a:srgbClr val="7A7D8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78173" cy="195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423654" y="8094487"/>
            <a:ext cx="3490153" cy="4030833"/>
          </a:xfrm>
          <a:custGeom>
            <a:avLst/>
            <a:gdLst/>
            <a:ahLst/>
            <a:cxnLst/>
            <a:rect r="r" b="b" t="t" l="l"/>
            <a:pathLst>
              <a:path h="4030833" w="3490153">
                <a:moveTo>
                  <a:pt x="0" y="0"/>
                </a:moveTo>
                <a:lnTo>
                  <a:pt x="3490153" y="0"/>
                </a:lnTo>
                <a:lnTo>
                  <a:pt x="3490153" y="4030832"/>
                </a:lnTo>
                <a:lnTo>
                  <a:pt x="0" y="40308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502081" y="2359359"/>
            <a:ext cx="3490153" cy="4030833"/>
          </a:xfrm>
          <a:custGeom>
            <a:avLst/>
            <a:gdLst/>
            <a:ahLst/>
            <a:cxnLst/>
            <a:rect r="r" b="b" t="t" l="l"/>
            <a:pathLst>
              <a:path h="4030833" w="3490153">
                <a:moveTo>
                  <a:pt x="0" y="0"/>
                </a:moveTo>
                <a:lnTo>
                  <a:pt x="3490154" y="0"/>
                </a:lnTo>
                <a:lnTo>
                  <a:pt x="3490154" y="4030833"/>
                </a:lnTo>
                <a:lnTo>
                  <a:pt x="0" y="403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10668" y="2553514"/>
            <a:ext cx="13866665" cy="106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US" sz="679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Three Types of CTI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88742" y="5650322"/>
            <a:ext cx="5311344" cy="107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6861" indent="-223430" lvl="1">
              <a:lnSpc>
                <a:spcPts val="2897"/>
              </a:lnSpc>
              <a:buFont typeface="Arial"/>
              <a:buChar char="•"/>
            </a:pPr>
            <a:r>
              <a:rPr lang="en-US" b="true" sz="2069" i="true">
                <a:solidFill>
                  <a:srgbClr val="395EAD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Focus: Attacker's methods (TTPs).</a:t>
            </a:r>
          </a:p>
          <a:p>
            <a:pPr algn="just" marL="446861" indent="-223430" lvl="1">
              <a:lnSpc>
                <a:spcPts val="2897"/>
              </a:lnSpc>
              <a:buFont typeface="Arial"/>
              <a:buChar char="•"/>
            </a:pPr>
            <a:r>
              <a:rPr lang="en-US" b="true" sz="2069" i="true">
                <a:solidFill>
                  <a:srgbClr val="395EAD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For: Security Builders. </a:t>
            </a:r>
          </a:p>
          <a:p>
            <a:pPr algn="just">
              <a:lnSpc>
                <a:spcPts val="289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7798216" y="4417693"/>
            <a:ext cx="2461048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Tactical TI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52518" y="4400782"/>
            <a:ext cx="3160626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Operational TI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06225" y="4372811"/>
            <a:ext cx="3394585" cy="479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6"/>
              </a:lnSpc>
            </a:pPr>
            <a:r>
              <a:rPr lang="en-US" sz="285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Strategic TI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75828" y="5472385"/>
            <a:ext cx="5014078" cy="138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25760" indent="-212880" lvl="1">
              <a:lnSpc>
                <a:spcPts val="2760"/>
              </a:lnSpc>
              <a:buFont typeface="Arial"/>
              <a:buChar char="•"/>
            </a:pPr>
            <a:r>
              <a:rPr lang="en-US" b="true" sz="1972" i="true">
                <a:solidFill>
                  <a:srgbClr val="395EAD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Focus: Specific clues (like bad IPs) for immediate blocking.</a:t>
            </a:r>
          </a:p>
          <a:p>
            <a:pPr algn="just" marL="425760" indent="-212880" lvl="1">
              <a:lnSpc>
                <a:spcPts val="2760"/>
              </a:lnSpc>
              <a:buFont typeface="Arial"/>
              <a:buChar char="•"/>
            </a:pPr>
            <a:r>
              <a:rPr lang="en-US" b="true" sz="1972" i="true">
                <a:solidFill>
                  <a:srgbClr val="395EAD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For: Fast action on the network.</a:t>
            </a:r>
          </a:p>
          <a:p>
            <a:pPr algn="just">
              <a:lnSpc>
                <a:spcPts val="2906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589856" y="5462860"/>
            <a:ext cx="4689336" cy="144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8600" indent="-224300" lvl="1">
              <a:lnSpc>
                <a:spcPts val="2908"/>
              </a:lnSpc>
              <a:buFont typeface="Arial"/>
              <a:buChar char="•"/>
            </a:pPr>
            <a:r>
              <a:rPr lang="en-US" b="true" sz="2077" i="true">
                <a:solidFill>
                  <a:srgbClr val="395EAD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Focus: Big picture risks and long-term planning.</a:t>
            </a:r>
          </a:p>
          <a:p>
            <a:pPr algn="just" marL="448600" indent="-224300" lvl="1">
              <a:lnSpc>
                <a:spcPts val="2908"/>
              </a:lnSpc>
              <a:buFont typeface="Arial"/>
              <a:buChar char="•"/>
            </a:pPr>
            <a:r>
              <a:rPr lang="en-US" b="true" sz="2077" i="true">
                <a:solidFill>
                  <a:srgbClr val="395EAD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For: Company Leaders.</a:t>
            </a:r>
          </a:p>
          <a:p>
            <a:pPr algn="just">
              <a:lnSpc>
                <a:spcPts val="290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05211" y="4374775"/>
            <a:ext cx="3047057" cy="632571"/>
            <a:chOff x="0" y="0"/>
            <a:chExt cx="802517" cy="1666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2517" cy="166603"/>
            </a:xfrm>
            <a:custGeom>
              <a:avLst/>
              <a:gdLst/>
              <a:ahLst/>
              <a:cxnLst/>
              <a:rect r="r" b="b" t="t" l="l"/>
              <a:pathLst>
                <a:path h="166603" w="802517">
                  <a:moveTo>
                    <a:pt x="83302" y="0"/>
                  </a:moveTo>
                  <a:lnTo>
                    <a:pt x="719216" y="0"/>
                  </a:lnTo>
                  <a:cubicBezTo>
                    <a:pt x="741309" y="0"/>
                    <a:pt x="762497" y="8776"/>
                    <a:pt x="778119" y="24398"/>
                  </a:cubicBezTo>
                  <a:cubicBezTo>
                    <a:pt x="793741" y="40021"/>
                    <a:pt x="802517" y="61209"/>
                    <a:pt x="802517" y="83302"/>
                  </a:cubicBezTo>
                  <a:lnTo>
                    <a:pt x="802517" y="83302"/>
                  </a:lnTo>
                  <a:cubicBezTo>
                    <a:pt x="802517" y="105394"/>
                    <a:pt x="793741" y="126583"/>
                    <a:pt x="778119" y="142205"/>
                  </a:cubicBezTo>
                  <a:cubicBezTo>
                    <a:pt x="762497" y="157827"/>
                    <a:pt x="741309" y="166603"/>
                    <a:pt x="719216" y="166603"/>
                  </a:cubicBezTo>
                  <a:lnTo>
                    <a:pt x="83302" y="166603"/>
                  </a:lnTo>
                  <a:cubicBezTo>
                    <a:pt x="61209" y="166603"/>
                    <a:pt x="40021" y="157827"/>
                    <a:pt x="24398" y="142205"/>
                  </a:cubicBezTo>
                  <a:cubicBezTo>
                    <a:pt x="8776" y="126583"/>
                    <a:pt x="0" y="105394"/>
                    <a:pt x="0" y="83302"/>
                  </a:cubicBezTo>
                  <a:lnTo>
                    <a:pt x="0" y="83302"/>
                  </a:lnTo>
                  <a:cubicBezTo>
                    <a:pt x="0" y="61209"/>
                    <a:pt x="8776" y="40021"/>
                    <a:pt x="24398" y="24398"/>
                  </a:cubicBezTo>
                  <a:cubicBezTo>
                    <a:pt x="40021" y="8776"/>
                    <a:pt x="61209" y="0"/>
                    <a:pt x="83302" y="0"/>
                  </a:cubicBezTo>
                  <a:close/>
                </a:path>
              </a:pathLst>
            </a:custGeom>
            <a:solidFill>
              <a:srgbClr val="7A7D8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02517" cy="204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552518" y="4374775"/>
            <a:ext cx="3319954" cy="632571"/>
            <a:chOff x="0" y="0"/>
            <a:chExt cx="874391" cy="1666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4391" cy="166603"/>
            </a:xfrm>
            <a:custGeom>
              <a:avLst/>
              <a:gdLst/>
              <a:ahLst/>
              <a:cxnLst/>
              <a:rect r="r" b="b" t="t" l="l"/>
              <a:pathLst>
                <a:path h="166603" w="874391">
                  <a:moveTo>
                    <a:pt x="83302" y="0"/>
                  </a:moveTo>
                  <a:lnTo>
                    <a:pt x="791090" y="0"/>
                  </a:lnTo>
                  <a:cubicBezTo>
                    <a:pt x="813183" y="0"/>
                    <a:pt x="834371" y="8776"/>
                    <a:pt x="849993" y="24398"/>
                  </a:cubicBezTo>
                  <a:cubicBezTo>
                    <a:pt x="865615" y="40021"/>
                    <a:pt x="874391" y="61209"/>
                    <a:pt x="874391" y="83302"/>
                  </a:cubicBezTo>
                  <a:lnTo>
                    <a:pt x="874391" y="83302"/>
                  </a:lnTo>
                  <a:cubicBezTo>
                    <a:pt x="874391" y="129308"/>
                    <a:pt x="837096" y="166603"/>
                    <a:pt x="791090" y="166603"/>
                  </a:cubicBezTo>
                  <a:lnTo>
                    <a:pt x="83302" y="166603"/>
                  </a:lnTo>
                  <a:cubicBezTo>
                    <a:pt x="61209" y="166603"/>
                    <a:pt x="40021" y="157827"/>
                    <a:pt x="24398" y="142205"/>
                  </a:cubicBezTo>
                  <a:cubicBezTo>
                    <a:pt x="8776" y="126583"/>
                    <a:pt x="0" y="105394"/>
                    <a:pt x="0" y="83302"/>
                  </a:cubicBezTo>
                  <a:lnTo>
                    <a:pt x="0" y="83302"/>
                  </a:lnTo>
                  <a:cubicBezTo>
                    <a:pt x="0" y="61209"/>
                    <a:pt x="8776" y="40021"/>
                    <a:pt x="24398" y="24398"/>
                  </a:cubicBezTo>
                  <a:cubicBezTo>
                    <a:pt x="40021" y="8776"/>
                    <a:pt x="61209" y="0"/>
                    <a:pt x="83302" y="0"/>
                  </a:cubicBezTo>
                  <a:close/>
                </a:path>
              </a:pathLst>
            </a:custGeom>
            <a:solidFill>
              <a:srgbClr val="7A7D8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74391" cy="204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10668" y="4374775"/>
            <a:ext cx="3334314" cy="598748"/>
            <a:chOff x="0" y="0"/>
            <a:chExt cx="878173" cy="1576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8173" cy="157695"/>
            </a:xfrm>
            <a:custGeom>
              <a:avLst/>
              <a:gdLst/>
              <a:ahLst/>
              <a:cxnLst/>
              <a:rect r="r" b="b" t="t" l="l"/>
              <a:pathLst>
                <a:path h="157695" w="878173">
                  <a:moveTo>
                    <a:pt x="78847" y="0"/>
                  </a:moveTo>
                  <a:lnTo>
                    <a:pt x="799326" y="0"/>
                  </a:lnTo>
                  <a:cubicBezTo>
                    <a:pt x="842872" y="0"/>
                    <a:pt x="878173" y="35301"/>
                    <a:pt x="878173" y="78847"/>
                  </a:cubicBezTo>
                  <a:lnTo>
                    <a:pt x="878173" y="78847"/>
                  </a:lnTo>
                  <a:cubicBezTo>
                    <a:pt x="878173" y="122394"/>
                    <a:pt x="842872" y="157695"/>
                    <a:pt x="799326" y="157695"/>
                  </a:cubicBezTo>
                  <a:lnTo>
                    <a:pt x="78847" y="157695"/>
                  </a:lnTo>
                  <a:cubicBezTo>
                    <a:pt x="35301" y="157695"/>
                    <a:pt x="0" y="122394"/>
                    <a:pt x="0" y="78847"/>
                  </a:cubicBezTo>
                  <a:lnTo>
                    <a:pt x="0" y="78847"/>
                  </a:lnTo>
                  <a:cubicBezTo>
                    <a:pt x="0" y="35301"/>
                    <a:pt x="35301" y="0"/>
                    <a:pt x="78847" y="0"/>
                  </a:cubicBezTo>
                  <a:close/>
                </a:path>
              </a:pathLst>
            </a:custGeom>
            <a:solidFill>
              <a:srgbClr val="7A7D8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78173" cy="195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423654" y="8094487"/>
            <a:ext cx="3490153" cy="4030833"/>
          </a:xfrm>
          <a:custGeom>
            <a:avLst/>
            <a:gdLst/>
            <a:ahLst/>
            <a:cxnLst/>
            <a:rect r="r" b="b" t="t" l="l"/>
            <a:pathLst>
              <a:path h="4030833" w="3490153">
                <a:moveTo>
                  <a:pt x="0" y="0"/>
                </a:moveTo>
                <a:lnTo>
                  <a:pt x="3490153" y="0"/>
                </a:lnTo>
                <a:lnTo>
                  <a:pt x="3490153" y="4030832"/>
                </a:lnTo>
                <a:lnTo>
                  <a:pt x="0" y="40308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502081" y="2359359"/>
            <a:ext cx="3490153" cy="4030833"/>
          </a:xfrm>
          <a:custGeom>
            <a:avLst/>
            <a:gdLst/>
            <a:ahLst/>
            <a:cxnLst/>
            <a:rect r="r" b="b" t="t" l="l"/>
            <a:pathLst>
              <a:path h="4030833" w="3490153">
                <a:moveTo>
                  <a:pt x="0" y="0"/>
                </a:moveTo>
                <a:lnTo>
                  <a:pt x="3490154" y="0"/>
                </a:lnTo>
                <a:lnTo>
                  <a:pt x="3490154" y="4030833"/>
                </a:lnTo>
                <a:lnTo>
                  <a:pt x="0" y="403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10668" y="2553514"/>
            <a:ext cx="13866665" cy="106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US" sz="679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CTI's Core Value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88328" y="5456826"/>
            <a:ext cx="5144561" cy="69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b="true" sz="2000" i="true">
                <a:solidFill>
                  <a:srgbClr val="395EAD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We only fix the security problems that are most dangerous right now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98216" y="4417693"/>
            <a:ext cx="2461048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Prioritize Work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52518" y="4400782"/>
            <a:ext cx="3319954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Incident Response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06225" y="4372811"/>
            <a:ext cx="3394585" cy="479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6"/>
              </a:lnSpc>
            </a:pPr>
            <a:r>
              <a:rPr lang="en-US" sz="285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Planning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75828" y="5462860"/>
            <a:ext cx="5014078" cy="71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6"/>
              </a:lnSpc>
            </a:pPr>
            <a:r>
              <a:rPr lang="en-US" b="true" sz="2075" i="true">
                <a:solidFill>
                  <a:srgbClr val="395EAD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If there is a problem, CTI makes fixing the attack much faster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97723" y="5456826"/>
            <a:ext cx="4160204" cy="105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34"/>
              </a:lnSpc>
            </a:pPr>
            <a:r>
              <a:rPr lang="en-US" b="true" sz="2024" i="true">
                <a:solidFill>
                  <a:srgbClr val="395EAD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We can guess the attack and fix system weaknesses before they are used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05211" y="4374775"/>
            <a:ext cx="3047057" cy="632571"/>
            <a:chOff x="0" y="0"/>
            <a:chExt cx="802517" cy="1666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2517" cy="166603"/>
            </a:xfrm>
            <a:custGeom>
              <a:avLst/>
              <a:gdLst/>
              <a:ahLst/>
              <a:cxnLst/>
              <a:rect r="r" b="b" t="t" l="l"/>
              <a:pathLst>
                <a:path h="166603" w="802517">
                  <a:moveTo>
                    <a:pt x="83302" y="0"/>
                  </a:moveTo>
                  <a:lnTo>
                    <a:pt x="719216" y="0"/>
                  </a:lnTo>
                  <a:cubicBezTo>
                    <a:pt x="741309" y="0"/>
                    <a:pt x="762497" y="8776"/>
                    <a:pt x="778119" y="24398"/>
                  </a:cubicBezTo>
                  <a:cubicBezTo>
                    <a:pt x="793741" y="40021"/>
                    <a:pt x="802517" y="61209"/>
                    <a:pt x="802517" y="83302"/>
                  </a:cubicBezTo>
                  <a:lnTo>
                    <a:pt x="802517" y="83302"/>
                  </a:lnTo>
                  <a:cubicBezTo>
                    <a:pt x="802517" y="105394"/>
                    <a:pt x="793741" y="126583"/>
                    <a:pt x="778119" y="142205"/>
                  </a:cubicBezTo>
                  <a:cubicBezTo>
                    <a:pt x="762497" y="157827"/>
                    <a:pt x="741309" y="166603"/>
                    <a:pt x="719216" y="166603"/>
                  </a:cubicBezTo>
                  <a:lnTo>
                    <a:pt x="83302" y="166603"/>
                  </a:lnTo>
                  <a:cubicBezTo>
                    <a:pt x="61209" y="166603"/>
                    <a:pt x="40021" y="157827"/>
                    <a:pt x="24398" y="142205"/>
                  </a:cubicBezTo>
                  <a:cubicBezTo>
                    <a:pt x="8776" y="126583"/>
                    <a:pt x="0" y="105394"/>
                    <a:pt x="0" y="83302"/>
                  </a:cubicBezTo>
                  <a:lnTo>
                    <a:pt x="0" y="83302"/>
                  </a:lnTo>
                  <a:cubicBezTo>
                    <a:pt x="0" y="61209"/>
                    <a:pt x="8776" y="40021"/>
                    <a:pt x="24398" y="24398"/>
                  </a:cubicBezTo>
                  <a:cubicBezTo>
                    <a:pt x="40021" y="8776"/>
                    <a:pt x="61209" y="0"/>
                    <a:pt x="83302" y="0"/>
                  </a:cubicBezTo>
                  <a:close/>
                </a:path>
              </a:pathLst>
            </a:custGeom>
            <a:solidFill>
              <a:srgbClr val="7A7D8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02517" cy="204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552518" y="4374775"/>
            <a:ext cx="3319954" cy="632571"/>
            <a:chOff x="0" y="0"/>
            <a:chExt cx="874391" cy="1666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4391" cy="166603"/>
            </a:xfrm>
            <a:custGeom>
              <a:avLst/>
              <a:gdLst/>
              <a:ahLst/>
              <a:cxnLst/>
              <a:rect r="r" b="b" t="t" l="l"/>
              <a:pathLst>
                <a:path h="166603" w="874391">
                  <a:moveTo>
                    <a:pt x="83302" y="0"/>
                  </a:moveTo>
                  <a:lnTo>
                    <a:pt x="791090" y="0"/>
                  </a:lnTo>
                  <a:cubicBezTo>
                    <a:pt x="813183" y="0"/>
                    <a:pt x="834371" y="8776"/>
                    <a:pt x="849993" y="24398"/>
                  </a:cubicBezTo>
                  <a:cubicBezTo>
                    <a:pt x="865615" y="40021"/>
                    <a:pt x="874391" y="61209"/>
                    <a:pt x="874391" y="83302"/>
                  </a:cubicBezTo>
                  <a:lnTo>
                    <a:pt x="874391" y="83302"/>
                  </a:lnTo>
                  <a:cubicBezTo>
                    <a:pt x="874391" y="129308"/>
                    <a:pt x="837096" y="166603"/>
                    <a:pt x="791090" y="166603"/>
                  </a:cubicBezTo>
                  <a:lnTo>
                    <a:pt x="83302" y="166603"/>
                  </a:lnTo>
                  <a:cubicBezTo>
                    <a:pt x="61209" y="166603"/>
                    <a:pt x="40021" y="157827"/>
                    <a:pt x="24398" y="142205"/>
                  </a:cubicBezTo>
                  <a:cubicBezTo>
                    <a:pt x="8776" y="126583"/>
                    <a:pt x="0" y="105394"/>
                    <a:pt x="0" y="83302"/>
                  </a:cubicBezTo>
                  <a:lnTo>
                    <a:pt x="0" y="83302"/>
                  </a:lnTo>
                  <a:cubicBezTo>
                    <a:pt x="0" y="61209"/>
                    <a:pt x="8776" y="40021"/>
                    <a:pt x="24398" y="24398"/>
                  </a:cubicBezTo>
                  <a:cubicBezTo>
                    <a:pt x="40021" y="8776"/>
                    <a:pt x="61209" y="0"/>
                    <a:pt x="83302" y="0"/>
                  </a:cubicBezTo>
                  <a:close/>
                </a:path>
              </a:pathLst>
            </a:custGeom>
            <a:solidFill>
              <a:srgbClr val="7A7D8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74391" cy="204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10668" y="4374775"/>
            <a:ext cx="3334314" cy="598748"/>
            <a:chOff x="0" y="0"/>
            <a:chExt cx="878173" cy="1576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8173" cy="157695"/>
            </a:xfrm>
            <a:custGeom>
              <a:avLst/>
              <a:gdLst/>
              <a:ahLst/>
              <a:cxnLst/>
              <a:rect r="r" b="b" t="t" l="l"/>
              <a:pathLst>
                <a:path h="157695" w="878173">
                  <a:moveTo>
                    <a:pt x="78847" y="0"/>
                  </a:moveTo>
                  <a:lnTo>
                    <a:pt x="799326" y="0"/>
                  </a:lnTo>
                  <a:cubicBezTo>
                    <a:pt x="842872" y="0"/>
                    <a:pt x="878173" y="35301"/>
                    <a:pt x="878173" y="78847"/>
                  </a:cubicBezTo>
                  <a:lnTo>
                    <a:pt x="878173" y="78847"/>
                  </a:lnTo>
                  <a:cubicBezTo>
                    <a:pt x="878173" y="122394"/>
                    <a:pt x="842872" y="157695"/>
                    <a:pt x="799326" y="157695"/>
                  </a:cubicBezTo>
                  <a:lnTo>
                    <a:pt x="78847" y="157695"/>
                  </a:lnTo>
                  <a:cubicBezTo>
                    <a:pt x="35301" y="157695"/>
                    <a:pt x="0" y="122394"/>
                    <a:pt x="0" y="78847"/>
                  </a:cubicBezTo>
                  <a:lnTo>
                    <a:pt x="0" y="78847"/>
                  </a:lnTo>
                  <a:cubicBezTo>
                    <a:pt x="0" y="35301"/>
                    <a:pt x="35301" y="0"/>
                    <a:pt x="78847" y="0"/>
                  </a:cubicBezTo>
                  <a:close/>
                </a:path>
              </a:pathLst>
            </a:custGeom>
            <a:solidFill>
              <a:srgbClr val="7A7D8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78173" cy="195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423654" y="8094487"/>
            <a:ext cx="3490153" cy="4030833"/>
          </a:xfrm>
          <a:custGeom>
            <a:avLst/>
            <a:gdLst/>
            <a:ahLst/>
            <a:cxnLst/>
            <a:rect r="r" b="b" t="t" l="l"/>
            <a:pathLst>
              <a:path h="4030833" w="3490153">
                <a:moveTo>
                  <a:pt x="0" y="0"/>
                </a:moveTo>
                <a:lnTo>
                  <a:pt x="3490153" y="0"/>
                </a:lnTo>
                <a:lnTo>
                  <a:pt x="3490153" y="4030832"/>
                </a:lnTo>
                <a:lnTo>
                  <a:pt x="0" y="40308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502081" y="2359359"/>
            <a:ext cx="3490153" cy="4030833"/>
          </a:xfrm>
          <a:custGeom>
            <a:avLst/>
            <a:gdLst/>
            <a:ahLst/>
            <a:cxnLst/>
            <a:rect r="r" b="b" t="t" l="l"/>
            <a:pathLst>
              <a:path h="4030833" w="3490153">
                <a:moveTo>
                  <a:pt x="0" y="0"/>
                </a:moveTo>
                <a:lnTo>
                  <a:pt x="3490154" y="0"/>
                </a:lnTo>
                <a:lnTo>
                  <a:pt x="3490154" y="4030833"/>
                </a:lnTo>
                <a:lnTo>
                  <a:pt x="0" y="403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486818" y="1507799"/>
            <a:ext cx="13083843" cy="101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9"/>
              </a:lnSpc>
            </a:pPr>
            <a:r>
              <a:rPr lang="en-US" sz="6415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CTI and Security Systems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88328" y="5456826"/>
            <a:ext cx="4965267" cy="69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b="true" sz="2000" i="true">
                <a:solidFill>
                  <a:srgbClr val="395EAD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It reduces fake alarms, so analysts don't waste time.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98216" y="4417693"/>
            <a:ext cx="2461048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Benefit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52518" y="4400782"/>
            <a:ext cx="3319954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Benefit 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06225" y="4372811"/>
            <a:ext cx="3394585" cy="479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6"/>
              </a:lnSpc>
            </a:pPr>
            <a:r>
              <a:rPr lang="en-US" sz="285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Benefit 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75828" y="5462860"/>
            <a:ext cx="5014078" cy="71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6"/>
              </a:lnSpc>
            </a:pPr>
            <a:r>
              <a:rPr lang="en-US" b="true" sz="2075" i="true">
                <a:solidFill>
                  <a:srgbClr val="395EAD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It helps us understand the reason for every security alert.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23415" y="5456826"/>
            <a:ext cx="4160204" cy="697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34"/>
              </a:lnSpc>
            </a:pPr>
            <a:r>
              <a:rPr lang="en-US" b="true" sz="2024" i="true">
                <a:solidFill>
                  <a:srgbClr val="395EAD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 It helps the system find threats in real-time.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10303" y="2996972"/>
            <a:ext cx="8571468" cy="39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67"/>
              </a:lnSpc>
            </a:pPr>
            <a:r>
              <a:rPr lang="en-US" b="true" sz="2262" i="true">
                <a:solidFill>
                  <a:srgbClr val="395EAD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 CTI works inside our main monitoring system (like SIEM) 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49287" y="2074034"/>
            <a:ext cx="5246370" cy="7184266"/>
            <a:chOff x="0" y="0"/>
            <a:chExt cx="812800" cy="11130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1113031"/>
            </a:xfrm>
            <a:custGeom>
              <a:avLst/>
              <a:gdLst/>
              <a:ahLst/>
              <a:cxnLst/>
              <a:rect r="r" b="b" t="t" l="l"/>
              <a:pathLst>
                <a:path h="1113031" w="81280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1079090"/>
                  </a:lnTo>
                  <a:cubicBezTo>
                    <a:pt x="812800" y="1097835"/>
                    <a:pt x="797604" y="1113031"/>
                    <a:pt x="778860" y="1113031"/>
                  </a:cubicBezTo>
                  <a:lnTo>
                    <a:pt x="33940" y="1113031"/>
                  </a:lnTo>
                  <a:cubicBezTo>
                    <a:pt x="15196" y="1113031"/>
                    <a:pt x="0" y="1097835"/>
                    <a:pt x="0" y="1079090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3"/>
              <a:stretch>
                <a:fillRect l="-52671" t="0" r="-52671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1505396" y="2074034"/>
            <a:ext cx="3964386" cy="1916120"/>
          </a:xfrm>
          <a:custGeom>
            <a:avLst/>
            <a:gdLst/>
            <a:ahLst/>
            <a:cxnLst/>
            <a:rect r="r" b="b" t="t" l="l"/>
            <a:pathLst>
              <a:path h="1916120" w="3964386">
                <a:moveTo>
                  <a:pt x="0" y="0"/>
                </a:moveTo>
                <a:lnTo>
                  <a:pt x="3964386" y="0"/>
                </a:lnTo>
                <a:lnTo>
                  <a:pt x="3964386" y="1916120"/>
                </a:lnTo>
                <a:lnTo>
                  <a:pt x="0" y="1916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57272" y="7644254"/>
            <a:ext cx="7315200" cy="1864444"/>
          </a:xfrm>
          <a:custGeom>
            <a:avLst/>
            <a:gdLst/>
            <a:ahLst/>
            <a:cxnLst/>
            <a:rect r="r" b="b" t="t" l="l"/>
            <a:pathLst>
              <a:path h="1864444" w="7315200">
                <a:moveTo>
                  <a:pt x="0" y="0"/>
                </a:moveTo>
                <a:lnTo>
                  <a:pt x="7315200" y="0"/>
                </a:lnTo>
                <a:lnTo>
                  <a:pt x="7315200" y="1864443"/>
                </a:lnTo>
                <a:lnTo>
                  <a:pt x="0" y="18644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63724" y="3093728"/>
            <a:ext cx="11208748" cy="1063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2"/>
              </a:lnSpc>
            </a:pPr>
            <a:r>
              <a:rPr lang="en-US" sz="6258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58990" y="5095875"/>
            <a:ext cx="10964900" cy="1135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2627" indent="-236313" lvl="1">
              <a:lnSpc>
                <a:spcPts val="3064"/>
              </a:lnSpc>
              <a:buFont typeface="Arial"/>
              <a:buChar char="•"/>
            </a:pPr>
            <a:r>
              <a:rPr lang="en-US" b="true" sz="2189" i="true">
                <a:solidFill>
                  <a:srgbClr val="395EAD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 CTI is the "smart brain" behind modern security.</a:t>
            </a:r>
          </a:p>
          <a:p>
            <a:pPr algn="just" marL="472627" indent="-236313" lvl="1">
              <a:lnSpc>
                <a:spcPts val="3064"/>
              </a:lnSpc>
              <a:buFont typeface="Arial"/>
              <a:buChar char="•"/>
            </a:pPr>
            <a:r>
              <a:rPr lang="en-US" b="true" sz="2189" i="true">
                <a:solidFill>
                  <a:srgbClr val="395EAD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 It gives us the power to plan, prepare, and stop threats.</a:t>
            </a:r>
          </a:p>
          <a:p>
            <a:pPr algn="just" marL="472627" indent="-236313" lvl="1">
              <a:lnSpc>
                <a:spcPts val="3064"/>
              </a:lnSpc>
              <a:buFont typeface="Arial"/>
              <a:buChar char="•"/>
            </a:pPr>
            <a:r>
              <a:rPr lang="en-US" b="true" sz="2189" i="true">
                <a:solidFill>
                  <a:srgbClr val="395EAD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 CTI is key to having strong and future-proof security.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36269" y="1780250"/>
            <a:ext cx="5672235" cy="3363250"/>
          </a:xfrm>
          <a:custGeom>
            <a:avLst/>
            <a:gdLst/>
            <a:ahLst/>
            <a:cxnLst/>
            <a:rect r="r" b="b" t="t" l="l"/>
            <a:pathLst>
              <a:path h="3363250" w="5672235">
                <a:moveTo>
                  <a:pt x="0" y="0"/>
                </a:moveTo>
                <a:lnTo>
                  <a:pt x="5672235" y="0"/>
                </a:lnTo>
                <a:lnTo>
                  <a:pt x="5672235" y="3363250"/>
                </a:lnTo>
                <a:lnTo>
                  <a:pt x="0" y="3363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0669" y="5671086"/>
            <a:ext cx="2711661" cy="3131740"/>
          </a:xfrm>
          <a:custGeom>
            <a:avLst/>
            <a:gdLst/>
            <a:ahLst/>
            <a:cxnLst/>
            <a:rect r="r" b="b" t="t" l="l"/>
            <a:pathLst>
              <a:path h="3131740" w="2711661">
                <a:moveTo>
                  <a:pt x="0" y="0"/>
                </a:moveTo>
                <a:lnTo>
                  <a:pt x="2711661" y="0"/>
                </a:lnTo>
                <a:lnTo>
                  <a:pt x="2711661" y="3131739"/>
                </a:lnTo>
                <a:lnTo>
                  <a:pt x="0" y="31317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22330" y="3744926"/>
            <a:ext cx="10727255" cy="2384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64"/>
              </a:lnSpc>
            </a:pPr>
            <a:r>
              <a:rPr lang="en-US" sz="15251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DAG38g_Xo6w</dc:identifier>
  <dcterms:modified xsi:type="dcterms:W3CDTF">2011-08-01T06:04:30Z</dcterms:modified>
  <cp:revision>1</cp:revision>
  <dc:title>The Role of Threat Intelligence in Modern Cybersecurity</dc:title>
</cp:coreProperties>
</file>